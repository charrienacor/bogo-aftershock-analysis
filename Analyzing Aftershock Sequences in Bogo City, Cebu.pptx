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94660"/>
  </p:normalViewPr>
  <p:slideViewPr>
    <p:cSldViewPr snapToGrid="0">
      <p:cViewPr varScale="1">
        <p:scale>
          <a:sx n="121" d="100"/>
          <a:sy n="121" d="100"/>
        </p:scale>
        <p:origin x="84"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C838E-26D5-1EAA-5C12-FAD195944E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FCE2A7-2401-43DE-F11D-1CCCB5758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D86324-DDA3-2C49-FB9B-18F875937691}"/>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5" name="Footer Placeholder 4">
            <a:extLst>
              <a:ext uri="{FF2B5EF4-FFF2-40B4-BE49-F238E27FC236}">
                <a16:creationId xmlns:a16="http://schemas.microsoft.com/office/drawing/2014/main" id="{ED68A894-4A64-E1C3-B248-75181D8DCC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EE1A98-5C3C-F64E-CEC2-49F925AD2E22}"/>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1681780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022B1-D636-B59F-4E98-E3B0CA3C12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85ECC8-F366-69C2-9E7E-33BD0CBFF3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DC61A-4A67-EA94-76CB-D8B4986AA936}"/>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5" name="Footer Placeholder 4">
            <a:extLst>
              <a:ext uri="{FF2B5EF4-FFF2-40B4-BE49-F238E27FC236}">
                <a16:creationId xmlns:a16="http://schemas.microsoft.com/office/drawing/2014/main" id="{7575E1BF-7FB4-6A54-2FE4-2F1CE5CDB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C1D183-6DCD-7BC3-A2E0-CC60A3B0368A}"/>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4070063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C59A3-A465-1A91-59A8-A8CFD4193F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CD4372-18DF-6F6C-B675-98362CD22F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DE0869-0E7B-B31F-5F91-4684866D7E36}"/>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5" name="Footer Placeholder 4">
            <a:extLst>
              <a:ext uri="{FF2B5EF4-FFF2-40B4-BE49-F238E27FC236}">
                <a16:creationId xmlns:a16="http://schemas.microsoft.com/office/drawing/2014/main" id="{A7CE09F2-6584-7CC0-FEA4-073163A9FC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0C850-F734-5EC1-672F-41E787F8D2AB}"/>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1178280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B609C-2CC1-E679-3623-A2A3AFA31D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E875CD-65D6-6DA6-A741-83410B2FA9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270A23-D380-4B69-F1C1-0D7E9DD7BF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5A30D4-3FC5-C2BA-7A3E-1C78EAD4DE2A}"/>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6" name="Footer Placeholder 5">
            <a:extLst>
              <a:ext uri="{FF2B5EF4-FFF2-40B4-BE49-F238E27FC236}">
                <a16:creationId xmlns:a16="http://schemas.microsoft.com/office/drawing/2014/main" id="{8A0D391F-707C-111F-B8DF-416B18A9E3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262A1-CC2F-9C89-D9A5-621F6FEEE5DB}"/>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2147557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4EF6C-1245-8D77-0139-7B913DE672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D710EF-B9CC-1BF0-2CE5-949A076BEC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2C35BF-CDB7-68AB-557A-F767001272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283E9B-A547-8540-6C88-EADBDFDAC6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33ED34-A040-5B66-A509-B637162A7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0188C0-BAE5-C93E-0FCE-545606F6DEDD}"/>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8" name="Footer Placeholder 7">
            <a:extLst>
              <a:ext uri="{FF2B5EF4-FFF2-40B4-BE49-F238E27FC236}">
                <a16:creationId xmlns:a16="http://schemas.microsoft.com/office/drawing/2014/main" id="{64C5A95C-BE54-1322-89AC-306BC40A2A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7404E-B77F-9FEC-6A44-A7502A007B92}"/>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1660912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F6511-2E9D-E614-EA33-FFF41E6212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53751E-FC1C-72DB-D161-F58422BBCFC4}"/>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4" name="Footer Placeholder 3">
            <a:extLst>
              <a:ext uri="{FF2B5EF4-FFF2-40B4-BE49-F238E27FC236}">
                <a16:creationId xmlns:a16="http://schemas.microsoft.com/office/drawing/2014/main" id="{E6B1F760-0904-6DD8-46C5-C9A93EDD72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EA82AB-3470-A13C-C805-A4C77EA06852}"/>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932051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CACB64-D97C-E47F-DC2E-5DBA3351079F}"/>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3" name="Footer Placeholder 2">
            <a:extLst>
              <a:ext uri="{FF2B5EF4-FFF2-40B4-BE49-F238E27FC236}">
                <a16:creationId xmlns:a16="http://schemas.microsoft.com/office/drawing/2014/main" id="{B60329D3-3F67-D116-5E40-8A9FD23FD7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A4F93A-AAE7-9BB2-0B76-E169A0E1CA6F}"/>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1013009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08084-7B95-CDDD-73B1-4B79CFE200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AF8112-DA0D-20AE-D073-5A813DA622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96E5F9-56E3-1880-7231-DEC9CDB6A6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A1B64E-05A6-82DE-2B76-83CBC81A4A11}"/>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6" name="Footer Placeholder 5">
            <a:extLst>
              <a:ext uri="{FF2B5EF4-FFF2-40B4-BE49-F238E27FC236}">
                <a16:creationId xmlns:a16="http://schemas.microsoft.com/office/drawing/2014/main" id="{0904D47D-FEE7-05D7-121E-8382B2C29A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2F189D-3173-1FAC-D344-7C8943EEABFC}"/>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562538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43E5-F387-0BC1-0764-2E29C01D79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62F401-D037-C970-6EA6-E012F3116D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3AD010-3723-8674-D1B3-046E377E1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BEFB24-07FF-5278-BBAD-DF54B79F1690}"/>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6" name="Footer Placeholder 5">
            <a:extLst>
              <a:ext uri="{FF2B5EF4-FFF2-40B4-BE49-F238E27FC236}">
                <a16:creationId xmlns:a16="http://schemas.microsoft.com/office/drawing/2014/main" id="{05C40FDA-CA35-1A40-1088-EE5DDAC02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0401B-9761-31EC-D22D-2158D54EF076}"/>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2389516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CF1F3-FD13-8EB8-84C3-71D95F03CF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7C1816-57EA-3084-E1CD-99C0DBC59E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29D9AE-8C73-C836-369C-35C2217E08DA}"/>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5" name="Footer Placeholder 4">
            <a:extLst>
              <a:ext uri="{FF2B5EF4-FFF2-40B4-BE49-F238E27FC236}">
                <a16:creationId xmlns:a16="http://schemas.microsoft.com/office/drawing/2014/main" id="{01728A53-9CBB-DBDE-68CC-C55E2DEA9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3E14F-31C0-6238-BFC3-9E65B092B7CA}"/>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1789753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756BA6-F232-3A29-B35E-F207C7F2E4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CF5F24-BB7E-1B01-B89A-01183F8FFD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DC62FD-81EE-937A-FEC8-AB86182F3EBD}"/>
              </a:ext>
            </a:extLst>
          </p:cNvPr>
          <p:cNvSpPr>
            <a:spLocks noGrp="1"/>
          </p:cNvSpPr>
          <p:nvPr>
            <p:ph type="dt" sz="half" idx="10"/>
          </p:nvPr>
        </p:nvSpPr>
        <p:spPr/>
        <p:txBody>
          <a:bodyPr/>
          <a:lstStyle/>
          <a:p>
            <a:fld id="{11F11354-AE5F-42FA-9483-6B7BF9185500}" type="datetimeFigureOut">
              <a:rPr lang="en-US" smtClean="0"/>
              <a:t>12/11/2025</a:t>
            </a:fld>
            <a:endParaRPr lang="en-US"/>
          </a:p>
        </p:txBody>
      </p:sp>
      <p:sp>
        <p:nvSpPr>
          <p:cNvPr id="5" name="Footer Placeholder 4">
            <a:extLst>
              <a:ext uri="{FF2B5EF4-FFF2-40B4-BE49-F238E27FC236}">
                <a16:creationId xmlns:a16="http://schemas.microsoft.com/office/drawing/2014/main" id="{84DC0E2B-E686-08F0-7D1C-E14E991C3F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7D918A-1A0F-4152-DFE5-FC7456E6B063}"/>
              </a:ext>
            </a:extLst>
          </p:cNvPr>
          <p:cNvSpPr>
            <a:spLocks noGrp="1"/>
          </p:cNvSpPr>
          <p:nvPr>
            <p:ph type="sldNum" sz="quarter" idx="12"/>
          </p:nvPr>
        </p:nvSpPr>
        <p:spPr/>
        <p:txBody>
          <a:bodyPr/>
          <a:lstStyle/>
          <a:p>
            <a:fld id="{1775F5DB-C111-42E1-99B7-99419F415A82}" type="slidenum">
              <a:rPr lang="en-US" smtClean="0"/>
              <a:t>‹#›</a:t>
            </a:fld>
            <a:endParaRPr lang="en-US"/>
          </a:p>
        </p:txBody>
      </p:sp>
    </p:spTree>
    <p:extLst>
      <p:ext uri="{BB962C8B-B14F-4D97-AF65-F5344CB8AC3E}">
        <p14:creationId xmlns:p14="http://schemas.microsoft.com/office/powerpoint/2010/main" val="26077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144891-1526-04BE-644B-24DEF2E99F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33D226-E7C7-0DED-D163-8A410152DF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8D3793-7D6D-73AA-4F34-D9FC653F7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F11354-AE5F-42FA-9483-6B7BF9185500}" type="datetimeFigureOut">
              <a:rPr lang="en-US" smtClean="0"/>
              <a:t>12/11/2025</a:t>
            </a:fld>
            <a:endParaRPr lang="en-US"/>
          </a:p>
        </p:txBody>
      </p:sp>
      <p:sp>
        <p:nvSpPr>
          <p:cNvPr id="5" name="Footer Placeholder 4">
            <a:extLst>
              <a:ext uri="{FF2B5EF4-FFF2-40B4-BE49-F238E27FC236}">
                <a16:creationId xmlns:a16="http://schemas.microsoft.com/office/drawing/2014/main" id="{BE089769-C5D1-8EBC-2601-E0A35FC354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9D7A9C-4B25-F266-33A0-89F27355AF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75F5DB-C111-42E1-99B7-99419F415A82}" type="slidenum">
              <a:rPr lang="en-US" smtClean="0"/>
              <a:t>‹#›</a:t>
            </a:fld>
            <a:endParaRPr lang="en-US"/>
          </a:p>
        </p:txBody>
      </p:sp>
    </p:spTree>
    <p:extLst>
      <p:ext uri="{BB962C8B-B14F-4D97-AF65-F5344CB8AC3E}">
        <p14:creationId xmlns:p14="http://schemas.microsoft.com/office/powerpoint/2010/main" val="950168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1AFFB64-4B8D-4EEF-B81A-0F85DE12A43B}"/>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Analyzing Aftershock Sequences in Bogo City, Cebu using Unsupervised and Supervised Learning</a:t>
            </a:r>
          </a:p>
        </p:txBody>
      </p:sp>
      <p:sp>
        <p:nvSpPr>
          <p:cNvPr id="3" name="Subtitle 2">
            <a:extLst>
              <a:ext uri="{FF2B5EF4-FFF2-40B4-BE49-F238E27FC236}">
                <a16:creationId xmlns:a16="http://schemas.microsoft.com/office/drawing/2014/main" id="{6393891F-363B-5A7D-8129-196192EB0DBB}"/>
              </a:ext>
            </a:extLst>
          </p:cNvPr>
          <p:cNvSpPr>
            <a:spLocks noGrp="1"/>
          </p:cNvSpPr>
          <p:nvPr>
            <p:ph type="subTitle" idx="1"/>
          </p:nvPr>
        </p:nvSpPr>
        <p:spPr>
          <a:xfrm>
            <a:off x="1350682" y="4870824"/>
            <a:ext cx="10005951" cy="1458258"/>
          </a:xfrm>
        </p:spPr>
        <p:txBody>
          <a:bodyPr anchor="ctr">
            <a:normAutofit/>
          </a:bodyPr>
          <a:lstStyle/>
          <a:p>
            <a:pPr algn="l"/>
            <a:r>
              <a:rPr lang="en-US" dirty="0"/>
              <a:t>Charrie Anne S. Nacor</a:t>
            </a:r>
          </a:p>
          <a:p>
            <a:pPr algn="l"/>
            <a:r>
              <a:rPr lang="en-US" dirty="0"/>
              <a:t>Joanna Marie M. Pagtalunan</a:t>
            </a:r>
          </a:p>
        </p:txBody>
      </p:sp>
    </p:spTree>
    <p:extLst>
      <p:ext uri="{BB962C8B-B14F-4D97-AF65-F5344CB8AC3E}">
        <p14:creationId xmlns:p14="http://schemas.microsoft.com/office/powerpoint/2010/main" val="175486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A7D5F-F763-36EE-D7CF-38797DB4839E}"/>
              </a:ext>
            </a:extLst>
          </p:cNvPr>
          <p:cNvSpPr>
            <a:spLocks noGrp="1"/>
          </p:cNvSpPr>
          <p:nvPr>
            <p:ph type="title"/>
          </p:nvPr>
        </p:nvSpPr>
        <p:spPr/>
        <p:txBody>
          <a:bodyPr/>
          <a:lstStyle/>
          <a:p>
            <a:r>
              <a:rPr lang="en-US" dirty="0"/>
              <a:t>Introduction &amp; Problem Statement</a:t>
            </a:r>
          </a:p>
        </p:txBody>
      </p:sp>
      <p:sp>
        <p:nvSpPr>
          <p:cNvPr id="3" name="Content Placeholder 2">
            <a:extLst>
              <a:ext uri="{FF2B5EF4-FFF2-40B4-BE49-F238E27FC236}">
                <a16:creationId xmlns:a16="http://schemas.microsoft.com/office/drawing/2014/main" id="{D3C3ADF2-46C8-4BB5-1432-74F9D24B70FF}"/>
              </a:ext>
            </a:extLst>
          </p:cNvPr>
          <p:cNvSpPr>
            <a:spLocks noGrp="1"/>
          </p:cNvSpPr>
          <p:nvPr>
            <p:ph idx="1"/>
          </p:nvPr>
        </p:nvSpPr>
        <p:spPr/>
        <p:txBody>
          <a:bodyPr>
            <a:normAutofit/>
          </a:bodyPr>
          <a:lstStyle/>
          <a:p>
            <a:r>
              <a:rPr lang="en-US" sz="2000" dirty="0"/>
              <a:t>On September 30, 2025, a deathly magnitude 6.9 earthquake struck offshore near Bogo City, Cebu -- in an area previously considered a low-risk due to low seismic activity over the past 400 years. </a:t>
            </a:r>
          </a:p>
          <a:p>
            <a:r>
              <a:rPr lang="en-US" sz="2000" b="1" dirty="0"/>
              <a:t>Problem Statement: </a:t>
            </a:r>
            <a:r>
              <a:rPr lang="en-US" sz="2000" dirty="0"/>
              <a:t>The rupture revealed a previously unidentified fault system –Bogo Bay Fault-- highlighting the need for detailed post-event analysis to better understand its geometry and seismic activity.</a:t>
            </a:r>
          </a:p>
          <a:p>
            <a:r>
              <a:rPr lang="en-US" sz="2000" b="1" dirty="0"/>
              <a:t>Research Hypothesis: </a:t>
            </a:r>
            <a:r>
              <a:rPr lang="en-US" sz="2000" dirty="0"/>
              <a:t>The aftershock sequence of the 2025 Bogo City earthquake contains distinct, separable clusters driven by differences in location, depth, magnitude, and timing. These clusters will exhibit high separability under supervised models (SVC and </a:t>
            </a:r>
            <a:r>
              <a:rPr lang="en-US" sz="2000" dirty="0" err="1"/>
              <a:t>XGBoost</a:t>
            </a:r>
            <a:r>
              <a:rPr lang="en-US" sz="2000" dirty="0"/>
              <a:t>), thereby validating the feature-importance patterns observed in the unsupervised analysis.</a:t>
            </a:r>
          </a:p>
        </p:txBody>
      </p:sp>
    </p:spTree>
    <p:extLst>
      <p:ext uri="{BB962C8B-B14F-4D97-AF65-F5344CB8AC3E}">
        <p14:creationId xmlns:p14="http://schemas.microsoft.com/office/powerpoint/2010/main" val="92432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E800-8BFD-96C5-9513-0ABBBDFA0E78}"/>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481DB6F0-0146-43F2-6B31-50DE5FEB3413}"/>
              </a:ext>
            </a:extLst>
          </p:cNvPr>
          <p:cNvSpPr>
            <a:spLocks noGrp="1"/>
          </p:cNvSpPr>
          <p:nvPr>
            <p:ph idx="1"/>
          </p:nvPr>
        </p:nvSpPr>
        <p:spPr/>
        <p:txBody>
          <a:bodyPr/>
          <a:lstStyle/>
          <a:p>
            <a:r>
              <a:rPr lang="en-US" dirty="0"/>
              <a:t>Algorithms and Enhancements</a:t>
            </a:r>
          </a:p>
        </p:txBody>
      </p:sp>
    </p:spTree>
    <p:extLst>
      <p:ext uri="{BB962C8B-B14F-4D97-AF65-F5344CB8AC3E}">
        <p14:creationId xmlns:p14="http://schemas.microsoft.com/office/powerpoint/2010/main" val="4229631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68D03-7E4C-9634-AB13-0793C94A84C9}"/>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0F1650A4-3CB6-5F23-ED6A-7604AAF3BD2D}"/>
              </a:ext>
            </a:extLst>
          </p:cNvPr>
          <p:cNvSpPr>
            <a:spLocks noGrp="1"/>
          </p:cNvSpPr>
          <p:nvPr>
            <p:ph idx="1"/>
          </p:nvPr>
        </p:nvSpPr>
        <p:spPr/>
        <p:txBody>
          <a:bodyPr/>
          <a:lstStyle/>
          <a:p>
            <a:r>
              <a:rPr lang="en-US" dirty="0" err="1"/>
              <a:t>Kmeans</a:t>
            </a:r>
            <a:endParaRPr lang="en-US" dirty="0"/>
          </a:p>
          <a:p>
            <a:r>
              <a:rPr lang="en-US" dirty="0"/>
              <a:t>SVC</a:t>
            </a:r>
          </a:p>
        </p:txBody>
      </p:sp>
    </p:spTree>
    <p:extLst>
      <p:ext uri="{BB962C8B-B14F-4D97-AF65-F5344CB8AC3E}">
        <p14:creationId xmlns:p14="http://schemas.microsoft.com/office/powerpoint/2010/main" val="1642693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6C79E-5DDF-652C-6DB3-F19624E912A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6D0C0805-ABC0-D1DE-5649-4D6FF2AC96F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68215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TotalTime>
  <Words>159</Words>
  <Application>Microsoft Office PowerPoint</Application>
  <PresentationFormat>Widescreen</PresentationFormat>
  <Paragraphs>13</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Analyzing Aftershock Sequences in Bogo City, Cebu using Unsupervised and Supervised Learning</vt:lpstr>
      <vt:lpstr>Introduction &amp; Problem Statement</vt:lpstr>
      <vt:lpstr>Methodology</vt:lpstr>
      <vt:lpstr>Results</vt:lpstr>
      <vt:lpstr>Conclusion</vt:lpstr>
    </vt:vector>
  </TitlesOfParts>
  <Company>Analog Devices,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Pagtalunan, Joanna Marie</dc:creator>
  <cp:lastModifiedBy>Pagtalunan, Joanna Marie</cp:lastModifiedBy>
  <cp:revision>1</cp:revision>
  <dcterms:created xsi:type="dcterms:W3CDTF">2025-12-10T16:28:50Z</dcterms:created>
  <dcterms:modified xsi:type="dcterms:W3CDTF">2025-12-10T16:42:06Z</dcterms:modified>
</cp:coreProperties>
</file>